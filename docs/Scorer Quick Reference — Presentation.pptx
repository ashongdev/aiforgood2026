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17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 spc="200">
                <a:solidFill>
                  <a:srgbClr val="D4AF37"/>
                </a:solidFill>
                <a:latin typeface="Calibri"/>
              </a:rPr>
              <a:t>SCORING SYSTEM — USER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FCFCF"/>
                </a:solidFill>
                <a:latin typeface="Calibri"/>
              </a:rPr>
              <a:t>A walkthrough for Spectators, Scorekeepers, Referees, MCs &amp; Admins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8A8A8A"/>
                </a:solidFill>
                <a:latin typeface="Calibri"/>
              </a:rPr>
              <a:t>PRESENTED TO COMPETITION STAFF · 2026 GRAND FINALE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Five Roles, One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44752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9144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4E4E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01951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Spectator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3171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  <a:latin typeface="Calibri"/>
              </a:rPr>
              <a:t>No login — view standings, brackets &amp; schedule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660903"/>
            <a:ext cx="10607040" cy="9525"/>
          </a:xfrm>
          <a:prstGeom prst="rect">
            <a:avLst/>
          </a:prstGeom>
          <a:solidFill>
            <a:srgbClr val="E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15767"/>
            <a:ext cx="9144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4E4E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743199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Scorekeeper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172967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  <a:latin typeface="Calibri"/>
              </a:rPr>
              <a:t>Logs in to enter qualifier round 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502151"/>
            <a:ext cx="10607040" cy="9525"/>
          </a:xfrm>
          <a:prstGeom prst="rect">
            <a:avLst/>
          </a:prstGeom>
          <a:solidFill>
            <a:srgbClr val="E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57015"/>
            <a:ext cx="9144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4E4E0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8444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Referee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14215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  <a:latin typeface="Calibri"/>
              </a:rPr>
              <a:t>Logs in on a phone to score missions live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343399"/>
            <a:ext cx="10607040" cy="9525"/>
          </a:xfrm>
          <a:prstGeom prst="rect">
            <a:avLst/>
          </a:prstGeom>
          <a:solidFill>
            <a:srgbClr val="E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98263"/>
            <a:ext cx="9144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4E4E0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425695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MC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855463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  <a:latin typeface="Calibri"/>
              </a:rPr>
              <a:t>Logs in to see pairings and call teams to the floor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184647"/>
            <a:ext cx="10607040" cy="9525"/>
          </a:xfrm>
          <a:prstGeom prst="rect">
            <a:avLst/>
          </a:prstGeom>
          <a:solidFill>
            <a:srgbClr val="E4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239511"/>
            <a:ext cx="9144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4E4E0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66943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Calibri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96711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8A8A"/>
                </a:solidFill>
                <a:latin typeface="Calibri"/>
              </a:rPr>
              <a:t>Manages teams, staff, locks, and the bracket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83280"/>
            <a:ext cx="21945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200">
                <a:solidFill>
                  <a:srgbClr val="D4AF37"/>
                </a:solidFill>
                <a:latin typeface="Calibri"/>
              </a:rPr>
              <a:t>SPECTATOR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Spectator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FCFCF"/>
                </a:solidFill>
                <a:latin typeface="Calibri"/>
              </a:rPr>
              <a:t>Open the app URL — no account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60">
                <a:solidFill>
                  <a:srgbClr val="D4AF37"/>
                </a:solidFill>
                <a:latin typeface="Calibri"/>
              </a:rPr>
              <a:t>NO LOGIN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SPECTATOR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STANDINGS &amp; BRACKET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Following the Competition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42419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Standings leaderboard — </a:t>
            </a:r>
            <a:r>
              <a:rPr sz="1500">
                <a:solidFill>
                  <a:srgbClr val="8A8A8A"/>
                </a:solidFill>
                <a:latin typeface="Calibri"/>
              </a:rPr>
              <a:t>ranked team list for Qualifiers, Pre-Quarters &amp; Quarters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Phase arrows (← →) — </a:t>
            </a:r>
            <a:r>
              <a:rPr sz="1500">
                <a:solidFill>
                  <a:srgbClr val="8A8A8A"/>
                </a:solidFill>
                <a:latin typeface="Calibri"/>
              </a:rPr>
              <a:t>navigate between Qualifiers through Finals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Tap a team row — </a:t>
            </a:r>
            <a:r>
              <a:rPr sz="1500">
                <a:solidFill>
                  <a:srgbClr val="8A8A8A"/>
                </a:solidFill>
                <a:latin typeface="Calibri"/>
              </a:rPr>
              <a:t>expands to show Round 1–4 scores and country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Bracket view — </a:t>
            </a:r>
            <a:r>
              <a:rPr sz="1500">
                <a:solidFill>
                  <a:srgbClr val="8A8A8A"/>
                </a:solidFill>
                <a:latin typeface="Calibri"/>
              </a:rPr>
              <a:t>head-to-head cards for Semis, Third Place &amp; Finals; winner highlighted gold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259" y="1691640"/>
            <a:ext cx="539479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4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4E4E0"/>
                </a:solidFill>
              </a:rPr>
              <a:t>🖼  </a:t>
            </a:r>
            <a:r>
              <a:rPr sz="1100" b="1">
                <a:solidFill>
                  <a:srgbClr val="8A8A8A"/>
                </a:solidFill>
                <a:latin typeface="Calibri"/>
              </a:rPr>
              <a:t>INSERT SCREENSHOT</a:t>
            </a:r>
          </a:p>
          <a:p>
            <a:pPr algn="ctr">
              <a:spcBef>
                <a:spcPts val="400"/>
              </a:spcBef>
            </a:pPr>
            <a:r>
              <a:rPr sz="1000" i="1">
                <a:solidFill>
                  <a:srgbClr val="8A8A8A"/>
                </a:solidFill>
                <a:latin typeface="Calibri"/>
              </a:rPr>
              <a:t>Standings leaderboard with an expanded team row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SPECTATOR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DEEP DIVE &amp;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Score Breakdown and Planning Ahead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42419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Score Breakdown — </a:t>
            </a:r>
            <a:r>
              <a:rPr sz="1500">
                <a:solidFill>
                  <a:srgbClr val="8A8A8A"/>
                </a:solidFill>
                <a:latin typeface="Calibri"/>
              </a:rPr>
              <a:t>tap inside an expanded row for a mission-by-mission view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📊 Team history — </a:t>
            </a:r>
            <a:r>
              <a:rPr sz="1500">
                <a:solidFill>
                  <a:srgbClr val="8A8A8A"/>
                </a:solidFill>
                <a:latin typeface="Calibri"/>
              </a:rPr>
              <a:t>tap a team name under a bracket card for their full scoring history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Schedule (calendar icon) — </a:t>
            </a:r>
            <a:r>
              <a:rPr sz="1500">
                <a:solidFill>
                  <a:srgbClr val="8A8A8A"/>
                </a:solidFill>
                <a:latin typeface="Calibri"/>
              </a:rPr>
              <a:t>all matches with confirmed times, sorted chronologically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Search &amp; status chips — </a:t>
            </a:r>
            <a:r>
              <a:rPr sz="1500">
                <a:solidFill>
                  <a:srgbClr val="8A8A8A"/>
                </a:solidFill>
                <a:latin typeface="Calibri"/>
              </a:rPr>
              <a:t>filter by team name; see Upcoming, Live, or Done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259" y="1691640"/>
            <a:ext cx="539479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4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4E4E0"/>
                </a:solidFill>
              </a:rPr>
              <a:t>🖼  </a:t>
            </a:r>
            <a:r>
              <a:rPr sz="1100" b="1">
                <a:solidFill>
                  <a:srgbClr val="8A8A8A"/>
                </a:solidFill>
                <a:latin typeface="Calibri"/>
              </a:rPr>
              <a:t>INSERT SCREENSHOT</a:t>
            </a:r>
          </a:p>
          <a:p>
            <a:pPr algn="ctr">
              <a:spcBef>
                <a:spcPts val="400"/>
              </a:spcBef>
            </a:pPr>
            <a:r>
              <a:rPr sz="1000" i="1">
                <a:solidFill>
                  <a:srgbClr val="8A8A8A"/>
                </a:solidFill>
                <a:latin typeface="Calibri"/>
              </a:rPr>
              <a:t>Schedule view with search box and status chips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SPECTATOR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83280"/>
            <a:ext cx="21945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200">
                <a:solidFill>
                  <a:srgbClr val="D4AF37"/>
                </a:solidFill>
                <a:latin typeface="Calibri"/>
              </a:rPr>
              <a:t>SCOREKEEPER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Scorekeeper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FCFCF"/>
                </a:solidFill>
                <a:latin typeface="Calibri"/>
              </a:rPr>
              <a:t>Enters qualifier round scores at an assigned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60">
                <a:solidFill>
                  <a:srgbClr val="D4AF37"/>
                </a:solidFill>
                <a:latin typeface="Calibri"/>
              </a:rPr>
              <a:t>REQUIRES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SCOREKEEPER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THE SCORE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Entering Qualifier Scores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42419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Grid view — </a:t>
            </a:r>
            <a:r>
              <a:rPr sz="1500">
                <a:solidFill>
                  <a:srgbClr val="8A8A8A"/>
                </a:solidFill>
                <a:latin typeface="Calibri"/>
              </a:rPr>
              <a:t>one row per match, columns for Team, R1–R4, and Total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Tap a score cell — </a:t>
            </a:r>
            <a:r>
              <a:rPr sz="1500">
                <a:solidFill>
                  <a:srgbClr val="8A8A8A"/>
                </a:solidFill>
                <a:latin typeface="Calibri"/>
              </a:rPr>
              <a:t>opens a numpad with the team &amp; round shown at the top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✓ to confirm — </a:t>
            </a:r>
            <a:r>
              <a:rPr sz="1500">
                <a:solidFill>
                  <a:srgbClr val="8A8A8A"/>
                </a:solidFill>
                <a:latin typeface="Calibri"/>
              </a:rPr>
              <a:t>score saves instantly and is visible to spectators immediately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Filters — </a:t>
            </a:r>
            <a:r>
              <a:rPr sz="1500">
                <a:solidFill>
                  <a:srgbClr val="8A8A8A"/>
                </a:solidFill>
                <a:latin typeface="Calibri"/>
              </a:rPr>
              <a:t>Phase, Category, and Table dropdowns — your table is pre-selected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259" y="1691640"/>
            <a:ext cx="539479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4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4E4E0"/>
                </a:solidFill>
              </a:rPr>
              <a:t>🖼  </a:t>
            </a:r>
            <a:r>
              <a:rPr sz="1100" b="1">
                <a:solidFill>
                  <a:srgbClr val="8A8A8A"/>
                </a:solidFill>
                <a:latin typeface="Calibri"/>
              </a:rPr>
              <a:t>INSERT SCREENSHOT</a:t>
            </a:r>
          </a:p>
          <a:p>
            <a:pPr algn="ctr">
              <a:spcBef>
                <a:spcPts val="400"/>
              </a:spcBef>
            </a:pPr>
            <a:r>
              <a:rPr sz="1000" i="1">
                <a:solidFill>
                  <a:srgbClr val="8A8A8A"/>
                </a:solidFill>
                <a:latin typeface="Calibri"/>
              </a:rPr>
              <a:t>Score grid with the numpad open on a cell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SCOREKEEPER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STAYING IN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Offline Mode &amp; Locked Phases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11535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D4AF37"/>
                </a:solidFill>
                <a:latin typeface="Calibri"/>
              </a:rPr>
              <a:t>▪  </a:t>
            </a:r>
            <a:r>
              <a:rPr sz="1600" b="1">
                <a:solidFill>
                  <a:srgbClr val="1A1A1A"/>
                </a:solidFill>
                <a:latin typeface="Calibri"/>
              </a:rPr>
              <a:t>Offline banner — </a:t>
            </a:r>
            <a:r>
              <a:rPr sz="1600">
                <a:solidFill>
                  <a:srgbClr val="8A8A8A"/>
                </a:solidFill>
                <a:latin typeface="Calibri"/>
              </a:rPr>
              <a:t>a yellow banner appears if connection drops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D4AF37"/>
                </a:solidFill>
                <a:latin typeface="Calibri"/>
              </a:rPr>
              <a:t>▪  </a:t>
            </a:r>
            <a:r>
              <a:rPr sz="1600" b="1">
                <a:solidFill>
                  <a:srgbClr val="1A1A1A"/>
                </a:solidFill>
                <a:latin typeface="Calibri"/>
              </a:rPr>
              <a:t>Scores queue locally — </a:t>
            </a:r>
            <a:r>
              <a:rPr sz="1600">
                <a:solidFill>
                  <a:srgbClr val="8A8A8A"/>
                </a:solidFill>
                <a:latin typeface="Calibri"/>
              </a:rPr>
              <a:t>and submit automatically once back online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D4AF37"/>
                </a:solidFill>
                <a:latin typeface="Calibri"/>
              </a:rPr>
              <a:t>▪  </a:t>
            </a:r>
            <a:r>
              <a:rPr sz="1600" b="1">
                <a:solidFill>
                  <a:srgbClr val="1A1A1A"/>
                </a:solidFill>
                <a:latin typeface="Calibri"/>
              </a:rPr>
              <a:t>Never close the tab — </a:t>
            </a:r>
            <a:r>
              <a:rPr sz="1600">
                <a:solidFill>
                  <a:srgbClr val="8A8A8A"/>
                </a:solidFill>
                <a:latin typeface="Calibri"/>
              </a:rPr>
              <a:t>while offline with scores still pending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D4AF37"/>
                </a:solidFill>
                <a:latin typeface="Calibri"/>
              </a:rPr>
              <a:t>▪  </a:t>
            </a:r>
            <a:r>
              <a:rPr sz="1600" b="1">
                <a:solidFill>
                  <a:srgbClr val="1A1A1A"/>
                </a:solidFill>
                <a:latin typeface="Calibri"/>
              </a:rPr>
              <a:t>Locked phase — </a:t>
            </a:r>
            <a:r>
              <a:rPr sz="1600">
                <a:solidFill>
                  <a:srgbClr val="8A8A8A"/>
                </a:solidFill>
                <a:latin typeface="Calibri"/>
              </a:rPr>
              <a:t>a red banner appears and cells become read-only until the admin unlocks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SCOREKEEPER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83280"/>
            <a:ext cx="21945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200">
                <a:solidFill>
                  <a:srgbClr val="D4AF37"/>
                </a:solidFill>
                <a:latin typeface="Calibri"/>
              </a:rPr>
              <a:t>REFEREE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Referee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FCFCF"/>
                </a:solidFill>
                <a:latin typeface="Calibri"/>
              </a:rPr>
              <a:t>Scores missions live on a phone, table-side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60">
                <a:solidFill>
                  <a:srgbClr val="D4AF37"/>
                </a:solidFill>
                <a:latin typeface="Calibri"/>
              </a:rPr>
              <a:t>REQUIRES LOGIN · MOBILE-FIRST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REFEREE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MATCH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One-Handed Scoring on the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42419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Match card — </a:t>
            </a:r>
            <a:r>
              <a:rPr sz="1500">
                <a:solidFill>
                  <a:srgbClr val="8A8A8A"/>
                </a:solidFill>
                <a:latin typeface="Calibri"/>
              </a:rPr>
              <a:t>both teams stacked with R1–R4 round buttons and a running total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Grey → Gold — </a:t>
            </a:r>
            <a:r>
              <a:rPr sz="1500">
                <a:solidFill>
                  <a:srgbClr val="8A8A8A"/>
                </a:solidFill>
                <a:latin typeface="Calibri"/>
              </a:rPr>
              <a:t>round buttons turn gold once that round is scored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Tap a round button — </a:t>
            </a:r>
            <a:r>
              <a:rPr sz="1500">
                <a:solidFill>
                  <a:srgbClr val="8A8A8A"/>
                </a:solidFill>
                <a:latin typeface="Calibri"/>
              </a:rPr>
              <a:t>the scoring panel slides up from the bottom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Rounds auto-expand — </a:t>
            </a:r>
            <a:r>
              <a:rPr sz="1500">
                <a:solidFill>
                  <a:srgbClr val="8A8A8A"/>
                </a:solidFill>
                <a:latin typeface="Calibri"/>
              </a:rPr>
              <a:t>no need to tap “+” — new rounds appear once the previous one is saved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259" y="1691640"/>
            <a:ext cx="539479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4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4E4E0"/>
                </a:solidFill>
              </a:rPr>
              <a:t>🖼  </a:t>
            </a:r>
            <a:r>
              <a:rPr sz="1100" b="1">
                <a:solidFill>
                  <a:srgbClr val="8A8A8A"/>
                </a:solidFill>
                <a:latin typeface="Calibri"/>
              </a:rPr>
              <a:t>INSERT SCREENSHOT</a:t>
            </a:r>
          </a:p>
          <a:p>
            <a:pPr algn="ctr">
              <a:spcBef>
                <a:spcPts val="400"/>
              </a:spcBef>
            </a:pPr>
            <a:r>
              <a:rPr sz="1000" i="1">
                <a:solidFill>
                  <a:srgbClr val="8A8A8A"/>
                </a:solidFill>
                <a:latin typeface="Calibri"/>
              </a:rPr>
              <a:t>Match card with R1–R4 buttons, some scored (gold)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REFEREE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THE SCORING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Tap +/− to Record Mission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42419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>
                <a:solidFill>
                  <a:srgbClr val="1A1A1A"/>
                </a:solidFill>
                <a:latin typeface="Calibri"/>
              </a:rPr>
              <a:t>+ / − buttons next to each scoring action — count updates live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>
                <a:solidFill>
                  <a:srgbClr val="1A1A1A"/>
                </a:solidFill>
                <a:latin typeface="Calibri"/>
              </a:rPr>
              <a:t>Round Total updates automatically at the bottom of the panel as you tap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>
                <a:solidFill>
                  <a:srgbClr val="1A1A1A"/>
                </a:solidFill>
                <a:latin typeface="Calibri"/>
              </a:rPr>
              <a:t>Save writes the score to the scoreboard immediately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>
                <a:solidFill>
                  <a:srgbClr val="1A1A1A"/>
                </a:solidFill>
                <a:latin typeface="Calibri"/>
              </a:rPr>
              <a:t>Tap the same round again anytime to re-open and correct a saved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259" y="1691640"/>
            <a:ext cx="539479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4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4E4E0"/>
                </a:solidFill>
              </a:rPr>
              <a:t>🖼  </a:t>
            </a:r>
            <a:r>
              <a:rPr sz="1100" b="1">
                <a:solidFill>
                  <a:srgbClr val="8A8A8A"/>
                </a:solidFill>
                <a:latin typeface="Calibri"/>
              </a:rPr>
              <a:t>INSERT SCREENSHOT</a:t>
            </a:r>
          </a:p>
          <a:p>
            <a:pPr algn="ctr">
              <a:spcBef>
                <a:spcPts val="400"/>
              </a:spcBef>
            </a:pPr>
            <a:r>
              <a:rPr sz="1000" i="1">
                <a:solidFill>
                  <a:srgbClr val="8A8A8A"/>
                </a:solidFill>
                <a:latin typeface="Calibri"/>
              </a:rPr>
              <a:t>Scoring panel with mission rows and running total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REFEREE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83280"/>
            <a:ext cx="21945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200">
                <a:solidFill>
                  <a:srgbClr val="D4AF37"/>
                </a:solidFill>
                <a:latin typeface="Calibri"/>
              </a:rPr>
              <a:t>MC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FCFCF"/>
                </a:solidFill>
                <a:latin typeface="Calibri"/>
              </a:rPr>
              <a:t>Calls teams to the floor — pairings only, no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60">
                <a:solidFill>
                  <a:srgbClr val="D4AF37"/>
                </a:solidFill>
                <a:latin typeface="Calibri"/>
              </a:rPr>
              <a:t>REQUIRES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THE MC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Knowing Who's Up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42419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Grouped by phase — </a:t>
            </a:r>
            <a:r>
              <a:rPr sz="1500">
                <a:solidFill>
                  <a:srgbClr val="8A8A8A"/>
                </a:solidFill>
                <a:latin typeface="Calibri"/>
              </a:rPr>
              <a:t>every match from Qualifiers through Finals, one scrollable list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Each card shows — </a:t>
            </a:r>
            <a:r>
              <a:rPr sz="1500">
                <a:solidFill>
                  <a:srgbClr val="8A8A8A"/>
                </a:solidFill>
                <a:latin typeface="Calibri"/>
              </a:rPr>
              <a:t>table number, scheduled time, both teams with flag + country, and status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LIVE banner — </a:t>
            </a:r>
            <a:r>
              <a:rPr sz="1500">
                <a:solidFill>
                  <a:srgbClr val="8A8A8A"/>
                </a:solidFill>
                <a:latin typeface="Calibri"/>
              </a:rPr>
              <a:t>“NOW ON COURT — Team A vs Team B (Table X)” when a match is in progress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Search box — </a:t>
            </a:r>
            <a:r>
              <a:rPr sz="1500">
                <a:solidFill>
                  <a:srgbClr val="8A8A8A"/>
                </a:solidFill>
                <a:latin typeface="Calibri"/>
              </a:rPr>
              <a:t>type a team name to instantly filter to matching cards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259" y="1691640"/>
            <a:ext cx="539479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4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4E4E0"/>
                </a:solidFill>
              </a:rPr>
              <a:t>🖼  </a:t>
            </a:r>
            <a:r>
              <a:rPr sz="1100" b="1">
                <a:solidFill>
                  <a:srgbClr val="8A8A8A"/>
                </a:solidFill>
                <a:latin typeface="Calibri"/>
              </a:rPr>
              <a:t>INSERT SCREENSHOT</a:t>
            </a:r>
          </a:p>
          <a:p>
            <a:pPr algn="ctr">
              <a:spcBef>
                <a:spcPts val="400"/>
              </a:spcBef>
            </a:pPr>
            <a:r>
              <a:rPr sz="1000" i="1">
                <a:solidFill>
                  <a:srgbClr val="8A8A8A"/>
                </a:solidFill>
                <a:latin typeface="Calibri"/>
              </a:rPr>
              <a:t>MC card list with the gold LIVE banner at the 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MC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CALLING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 Simple Repeatable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11535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D4AF37"/>
                </a:solidFill>
                <a:latin typeface="Calibri"/>
              </a:rPr>
              <a:t>▪  </a:t>
            </a:r>
            <a:r>
              <a:rPr sz="1600">
                <a:solidFill>
                  <a:srgbClr val="1A1A1A"/>
                </a:solidFill>
                <a:latin typeface="Calibri"/>
              </a:rPr>
              <a:t>Find the next Upcoming match (filter by phase or scroll)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D4AF37"/>
                </a:solidFill>
                <a:latin typeface="Calibri"/>
              </a:rPr>
              <a:t>▪  </a:t>
            </a:r>
            <a:r>
              <a:rPr sz="1600">
                <a:solidFill>
                  <a:srgbClr val="1A1A1A"/>
                </a:solidFill>
                <a:latin typeface="Calibri"/>
              </a:rPr>
              <a:t>Call both team names exactly as shown on the card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D4AF37"/>
                </a:solidFill>
                <a:latin typeface="Calibri"/>
              </a:rPr>
              <a:t>▪  </a:t>
            </a:r>
            <a:r>
              <a:rPr sz="1600">
                <a:solidFill>
                  <a:srgbClr val="1A1A1A"/>
                </a:solidFill>
                <a:latin typeface="Calibri"/>
              </a:rPr>
              <a:t>Direct them to the listed table number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D4AF37"/>
                </a:solidFill>
                <a:latin typeface="Calibri"/>
              </a:rPr>
              <a:t>▪  </a:t>
            </a:r>
            <a:r>
              <a:rPr sz="1600">
                <a:solidFill>
                  <a:srgbClr val="1A1A1A"/>
                </a:solidFill>
                <a:latin typeface="Calibri"/>
              </a:rPr>
              <a:t>Tap refresh before each call — the view does not auto-refresh continuously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83280"/>
            <a:ext cx="219456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200">
                <a:solidFill>
                  <a:srgbClr val="D4AF37"/>
                </a:solidFill>
                <a:latin typeface="Calibri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FCFCF"/>
                </a:solidFill>
                <a:latin typeface="Calibri"/>
              </a:rPr>
              <a:t>Runs the competition — teams, staff, brackets &amp; 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60">
                <a:solidFill>
                  <a:srgbClr val="D4AF37"/>
                </a:solidFill>
                <a:latin typeface="Calibri"/>
              </a:rPr>
              <a:t>ADMIN ACCOUNT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FOUR TABS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The Control Centre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42419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Qualifiers — </a:t>
            </a:r>
            <a:r>
              <a:rPr sz="1500">
                <a:solidFill>
                  <a:srgbClr val="8A8A8A"/>
                </a:solidFill>
                <a:latin typeface="Calibri"/>
              </a:rPr>
              <a:t>view scores, lock results, schedule match times, review the audit trail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Bracket — </a:t>
            </a:r>
            <a:r>
              <a:rPr sz="1500">
                <a:solidFill>
                  <a:srgbClr val="8A8A8A"/>
                </a:solidFill>
                <a:latin typeface="Calibri"/>
              </a:rPr>
              <a:t>seed teams, track elimination results, lock each phase independently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Teams — </a:t>
            </a:r>
            <a:r>
              <a:rPr sz="1500">
                <a:solidFill>
                  <a:srgbClr val="8A8A8A"/>
                </a:solidFill>
                <a:latin typeface="Calibri"/>
              </a:rPr>
              <a:t>add, edit, delete, or bulk-import teams from a CSV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Staff — </a:t>
            </a:r>
            <a:r>
              <a:rPr sz="1500">
                <a:solidFill>
                  <a:srgbClr val="8A8A8A"/>
                </a:solidFill>
                <a:latin typeface="Calibri"/>
              </a:rPr>
              <a:t>add, manage, and bulk-import scorekeepers, referees &amp; MCs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259" y="1691640"/>
            <a:ext cx="539479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4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4E4E0"/>
                </a:solidFill>
              </a:rPr>
              <a:t>🖼  </a:t>
            </a:r>
            <a:r>
              <a:rPr sz="1100" b="1">
                <a:solidFill>
                  <a:srgbClr val="8A8A8A"/>
                </a:solidFill>
                <a:latin typeface="Calibri"/>
              </a:rPr>
              <a:t>INSERT SCREENSHOT</a:t>
            </a:r>
          </a:p>
          <a:p>
            <a:pPr algn="ctr">
              <a:spcBef>
                <a:spcPts val="400"/>
              </a:spcBef>
            </a:pPr>
            <a:r>
              <a:rPr sz="1000" i="1">
                <a:solidFill>
                  <a:srgbClr val="8A8A8A"/>
                </a:solidFill>
                <a:latin typeface="Calibri"/>
              </a:rPr>
              <a:t>Admin panel with the four tab headers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STAFF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Accounts, Passwords &amp;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42419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Add or bulk-import — </a:t>
            </a:r>
            <a:r>
              <a:rPr sz="1500">
                <a:solidFill>
                  <a:srgbClr val="8A8A8A"/>
                </a:solidFill>
                <a:latin typeface="Calibri"/>
              </a:rPr>
              <a:t>by CSV with email, role, and table number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Search panel — </a:t>
            </a:r>
            <a:r>
              <a:rPr sz="1500">
                <a:solidFill>
                  <a:srgbClr val="8A8A8A"/>
                </a:solidFill>
                <a:latin typeface="Calibri"/>
              </a:rPr>
              <a:t>filter staff by email, role, or table (collapsed by default)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Lock / unlock — </a:t>
            </a:r>
            <a:r>
              <a:rPr sz="1500">
                <a:solidFill>
                  <a:srgbClr val="8A8A8A"/>
                </a:solidFill>
                <a:latin typeface="Calibri"/>
              </a:rPr>
              <a:t>temporarily suspend an account without deleting it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Reveal &amp; reset password — </a:t>
            </a:r>
            <a:r>
              <a:rPr sz="1500">
                <a:solidFill>
                  <a:srgbClr val="8A8A8A"/>
                </a:solidFill>
                <a:latin typeface="Calibri"/>
              </a:rPr>
              <a:t>via the eye icon — helps staff who forget credentials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259" y="1691640"/>
            <a:ext cx="539479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4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4E4E0"/>
                </a:solidFill>
              </a:rPr>
              <a:t>🖼  </a:t>
            </a:r>
            <a:r>
              <a:rPr sz="1100" b="1">
                <a:solidFill>
                  <a:srgbClr val="8A8A8A"/>
                </a:solidFill>
                <a:latin typeface="Calibri"/>
              </a:rPr>
              <a:t>INSERT SCREENSHOT</a:t>
            </a:r>
          </a:p>
          <a:p>
            <a:pPr algn="ctr">
              <a:spcBef>
                <a:spcPts val="400"/>
              </a:spcBef>
            </a:pPr>
            <a:r>
              <a:rPr sz="1000" i="1">
                <a:solidFill>
                  <a:srgbClr val="8A8A8A"/>
                </a:solidFill>
                <a:latin typeface="Calibri"/>
              </a:rPr>
              <a:t>Staff list with the password reveal panel expanded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4AF37"/>
                </a:solidFill>
                <a:latin typeface="Calibri"/>
              </a:rPr>
              <a:t>RESULTS &amp;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Locks, Schedule &amp; the Audit Trail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822960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242419" cy="4617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Lock Scores — </a:t>
            </a:r>
            <a:r>
              <a:rPr sz="1500">
                <a:solidFill>
                  <a:srgbClr val="8A8A8A"/>
                </a:solidFill>
                <a:latin typeface="Calibri"/>
              </a:rPr>
              <a:t>hides numbers from spectators; team names stay visible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Full Lock — </a:t>
            </a:r>
            <a:r>
              <a:rPr sz="1500">
                <a:solidFill>
                  <a:srgbClr val="8A8A8A"/>
                </a:solidFill>
                <a:latin typeface="Calibri"/>
              </a:rPr>
              <a:t>hides everything — use right before announcing results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Scheduled times — </a:t>
            </a:r>
            <a:r>
              <a:rPr sz="1500">
                <a:solidFill>
                  <a:srgbClr val="8A8A8A"/>
                </a:solidFill>
                <a:latin typeface="Calibri"/>
              </a:rPr>
              <a:t>set per match; appear instantly on the public Schedule and MC view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 b="1">
                <a:solidFill>
                  <a:srgbClr val="D4AF37"/>
                </a:solidFill>
                <a:latin typeface="Calibri"/>
              </a:rPr>
              <a:t>▪  </a:t>
            </a:r>
            <a:r>
              <a:rPr sz="1500" b="1">
                <a:solidFill>
                  <a:srgbClr val="1A1A1A"/>
                </a:solidFill>
                <a:latin typeface="Calibri"/>
              </a:rPr>
              <a:t>Audit trail — </a:t>
            </a:r>
            <a:r>
              <a:rPr sz="1500">
                <a:solidFill>
                  <a:srgbClr val="8A8A8A"/>
                </a:solidFill>
                <a:latin typeface="Calibri"/>
              </a:rPr>
              <a:t>every score change logged with who, when, and old → new values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8259" y="1691640"/>
            <a:ext cx="5394795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4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>
                <a:solidFill>
                  <a:srgbClr val="E4E4E0"/>
                </a:solidFill>
              </a:rPr>
              <a:t>🖼  </a:t>
            </a:r>
            <a:r>
              <a:rPr sz="1100" b="1">
                <a:solidFill>
                  <a:srgbClr val="8A8A8A"/>
                </a:solidFill>
                <a:latin typeface="Calibri"/>
              </a:rPr>
              <a:t>INSERT SCREENSHOT</a:t>
            </a:r>
          </a:p>
          <a:p>
            <a:pPr algn="ctr">
              <a:spcBef>
                <a:spcPts val="400"/>
              </a:spcBef>
            </a:pPr>
            <a:r>
              <a:rPr sz="1000" i="1">
                <a:solidFill>
                  <a:srgbClr val="8A8A8A"/>
                </a:solidFill>
                <a:latin typeface="Calibri"/>
              </a:rPr>
              <a:t>Audit trail panel showing logged score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i="0" spc="80">
                <a:solidFill>
                  <a:srgbClr val="D4AF37"/>
                </a:solidFill>
                <a:latin typeface="Calibri"/>
              </a:rPr>
              <a:t>AI FOR GOOD ROBOTICS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528816"/>
            <a:ext cx="2377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 spc="8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5288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175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FCFCF"/>
                </a:solidFill>
                <a:latin typeface="Calibri"/>
              </a:rPr>
              <a:t>Contact the system administrator for login issues or technical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8A8A8A"/>
                </a:solidFill>
                <a:latin typeface="Calibri"/>
              </a:rPr>
              <a:t>AI FOR GOOD ROBOTICS COMPETITION · 2026 GRAND FINALE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